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82296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65E"/>
                </a:solidFill>
                <a:latin typeface="Arial"/>
              </a:rPr>
              <a:t>HAPPIEST HEALTH SUMMIT 2026  /  DIGITAL TWIN FOR TYPE 2 DIABETES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554480"/>
            <a:ext cx="106070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191916"/>
                </a:solidFill>
                <a:latin typeface="Arial"/>
              </a:rPr>
              <a:t>GlucoTwin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46120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>
                <a:solidFill>
                  <a:srgbClr val="191916"/>
                </a:solidFill>
                <a:latin typeface="Arial"/>
              </a:rPr>
              <a:t>A two-hour warning, and a what-if sandbox, for type 2 diabetes.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989320"/>
            <a:ext cx="106070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6B665E"/>
                </a:solidFill>
                <a:latin typeface="Arial"/>
              </a:rPr>
              <a:t>six seven  ·  IGDTUW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India does not have a diabetes problem.</a:t>
            </a:r>
          </a:p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It has a daily one.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64592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101 million people with diabetes in India. 136 million with prediabetes.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60604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Most of them see a doctor two or three times a year.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56616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The disease acts every day, between those visits.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65E"/>
                </a:solidFill>
                <a:latin typeface="Arial"/>
              </a:rPr>
              <a:t>Source: Anjana et al., Lancet Diabetes &amp; Endocrinology, 2023 (ICMR-INDIAB national study).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The dangerous hours are the ones nobody sees.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64592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Glucose above 180 mg/dL for 30 minutes does damage quietly.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60604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The worst window is usually after the evening meal.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56616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A 09:00 fasting reading cannot show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52628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The next HbA1c test arrives three months later.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So we rebuilt the patient as a twin.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64592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Static record: labs, medications, genotype, history.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60604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Dynamic stream: 14 days of CGM, heart rate, HRV, steps, sleep.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56616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Output: two-hour event risk, with a calibrated probability.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52628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Output: a what-if sandbox that runs on this patient's physiology.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1,500 synthetic patients. 14 days each.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91916"/>
                </a:solidFill>
                <a:latin typeface="Arial"/>
              </a:rPr>
              <a:t>6.05 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B665E"/>
                </a:solidFill>
                <a:latin typeface="Arial"/>
              </a:rPr>
              <a:t>glucose readings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2148840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91916"/>
                </a:solidFill>
                <a:latin typeface="Arial"/>
              </a:rPr>
              <a:t>5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29000" y="320040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B665E"/>
                </a:solidFill>
                <a:latin typeface="Arial"/>
              </a:rPr>
              <a:t>sampling interval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48840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91916"/>
                </a:solidFill>
                <a:latin typeface="Arial"/>
              </a:rPr>
              <a:t>55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20040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B665E"/>
                </a:solidFill>
                <a:latin typeface="Arial"/>
              </a:rPr>
              <a:t>model features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6839" y="2148840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91916"/>
                </a:solidFill>
                <a:latin typeface="Arial"/>
              </a:rPr>
              <a:t>1 CPU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6839" y="320040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B665E"/>
                </a:solidFill>
                <a:latin typeface="Arial"/>
              </a:rPr>
              <a:t>to train and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9496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665E"/>
                </a:solidFill>
                <a:latin typeface="Arial"/>
              </a:rPr>
              <a:t>Seed 42. The whole cohort is regenerated by one command.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Synthetic is a design choice, not a shortcut.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64592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No real patient data, so no consent or re-identification risk.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60604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The record drives the physiology, so the two streams are genuinely linked.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56616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Fasting glucose sets the baseline. BMI, duration and genotype set sensitivity.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52628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The cost: results do not transfer to real patients without validation.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One pipeline, from a synthetic record to a clinical screen.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0734" y="1508760"/>
            <a:ext cx="7305771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806440"/>
            <a:ext cx="10835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B665E"/>
                </a:solidFill>
                <a:latin typeface="Arial"/>
              </a:rPr>
              <a:t>Data generation, features, models, twin, what-if, API, dashboard. External validation is optional and off to the side.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The label is a real clinical event.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899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>
                <a:solidFill>
                  <a:srgbClr val="191916"/>
                </a:solidFill>
                <a:latin typeface="Arial"/>
              </a:rPr>
              <a:t>1  if glucose stays above 180 mg/dL for 30 minutes</a:t>
            </a:r>
          </a:p>
          <a:p>
            <a:pPr algn="l">
              <a:lnSpc>
                <a:spcPct val="120000"/>
              </a:lnSpc>
            </a:pPr>
            <a:r>
              <a:rPr sz="3000" b="0">
                <a:solidFill>
                  <a:srgbClr val="191916"/>
                </a:solidFill>
                <a:latin typeface="Arial"/>
              </a:rPr>
              <a:t>inside the next 2 hours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42900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4128" y="342900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41.1% of test windows are positive.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411480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The cohort is deliberately uncontrolled, so events are not rare.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80060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480060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Split by patient: 900 train, 300 validation, 300 test.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55 features. Four blocks. One fused vector.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64592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19 CGM: level, means, variability, slopes, time above range, gaps.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60604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13 wearable: heart rate, HRV, steps, sleep and deep sleep.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56616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3 clock: time of day and night flag.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52628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20 record: age, BMI, waist, HbA1c, eGFR, lipids, medications, TCF7L2.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65E"/>
                </a:solidFill>
                <a:latin typeface="Arial"/>
              </a:rPr>
              <a:t>Plus a 6-hour, 5-channel tensor for the neural branch.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Five models. The tree won.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665E"/>
                </a:solidFill>
                <a:latin typeface="Arial"/>
              </a:rPr>
              <a:t>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71800" y="1600200"/>
            <a:ext cx="3840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665E"/>
                </a:solidFill>
                <a:latin typeface="Arial"/>
              </a:rPr>
              <a:t>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12280" y="160020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665E"/>
                </a:solidFill>
                <a:latin typeface="Arial"/>
              </a:rPr>
              <a:t>AUROC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66759" y="1600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665E"/>
                </a:solidFill>
                <a:latin typeface="Arial"/>
              </a:rPr>
              <a:t>Sensitivity at 0.5 FA/day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48840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Persistence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71800" y="214884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current glucose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148840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0.797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59" y="214884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862072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LightGBM, CGM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2862072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15 CGM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12280" y="2862072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0.984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59" y="2862072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70%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575304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LightGBM, EHR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71800" y="3575304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20 record fields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3575304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0.791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59" y="3575304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288536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91916"/>
                </a:solidFill>
                <a:latin typeface="Arial"/>
              </a:rPr>
              <a:t>LightGBM, fused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71800" y="4288536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91916"/>
                </a:solidFill>
                <a:latin typeface="Arial"/>
              </a:rPr>
              <a:t>all 55 features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12280" y="4288536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91916"/>
                </a:solidFill>
                <a:latin typeface="Arial"/>
              </a:rPr>
              <a:t>0.994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4288536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91916"/>
                </a:solidFill>
                <a:latin typeface="Arial"/>
              </a:rPr>
              <a:t>78%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001768"/>
            <a:ext cx="2331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Fusion net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1800" y="5001768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6 h x 5 channels + record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5001768"/>
            <a:ext cx="15544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0.950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59" y="500176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191916"/>
                </a:solidFill>
                <a:latin typeface="Arial"/>
              </a:rPr>
              <a:t>24%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65E"/>
                </a:solidFill>
                <a:latin typeface="Arial"/>
              </a:rPr>
              <a:t>Test patients only. Calibrated probabilities. Threshold fixed on validation.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The network was supposed to win.</a:t>
            </a:r>
          </a:p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It did not.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64592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Two-branch TCN + MLP, written in numpy, gradient-checked.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60604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AUROC 0.9496, against 0.9941 for the tree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56616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Two epochs on one CPU core is not enough to beat 250 boosted trees.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52628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So the tree is deployed, and the network stays in the ablation.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65E"/>
                </a:solidFill>
                <a:latin typeface="Arial"/>
              </a:rPr>
              <a:t>This is the comparison the brief asked for, reported as it 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Results on 300 patients the model never saw.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91916"/>
                </a:solidFill>
                <a:latin typeface="Arial"/>
              </a:rPr>
              <a:t>0.994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20040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B665E"/>
                </a:solidFill>
                <a:latin typeface="Arial"/>
              </a:rPr>
              <a:t>AUROC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2148840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91916"/>
                </a:solidFill>
                <a:latin typeface="Arial"/>
              </a:rPr>
              <a:t>0.992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29000" y="320040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B665E"/>
                </a:solidFill>
                <a:latin typeface="Arial"/>
              </a:rPr>
              <a:t>AUPRC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48840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91916"/>
                </a:solidFill>
                <a:latin typeface="Arial"/>
              </a:rPr>
              <a:t>78%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320040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B665E"/>
                </a:solidFill>
                <a:latin typeface="Arial"/>
              </a:rPr>
              <a:t>sensitivity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6839" y="2148840"/>
            <a:ext cx="26517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200" b="1">
                <a:solidFill>
                  <a:srgbClr val="191916"/>
                </a:solidFill>
                <a:latin typeface="Arial"/>
              </a:rPr>
              <a:t>53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6839" y="320040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6B665E"/>
                </a:solidFill>
                <a:latin typeface="Arial"/>
              </a:rPr>
              <a:t>mean warning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9496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665E"/>
                </a:solidFill>
                <a:latin typeface="Arial"/>
              </a:rPr>
              <a:t>Brier 0.028. 0.45 false alarms per patient-day. Dense 15-minute run: 81% sensitivity, 60 min mean lead.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Every input helps. The sensor helps most.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6948" y="1508760"/>
            <a:ext cx="5693343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806440"/>
            <a:ext cx="10835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B665E"/>
                </a:solidFill>
                <a:latin typeface="Arial"/>
              </a:rPr>
              <a:t>Same checkpoints for every model. EHR-only cannot rank moments inside one patient's day, so its within-patient AUROC is 0.5.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A probability you can act on, not just a ranking.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alib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5240" y="1508760"/>
            <a:ext cx="4556759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806440"/>
            <a:ext cx="10835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B665E"/>
                </a:solidFill>
                <a:latin typeface="Arial"/>
              </a:rPr>
              <a:t>Brier 0.028 after isotonic calibration. Forecast RMSE 11 / 14 / 23 mg/dL at 30 / 60 / 120 minutes.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Why this alert, in words a clinician can use.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8365" y="1508760"/>
            <a:ext cx="5530508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806440"/>
            <a:ext cx="10835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B665E"/>
                </a:solidFill>
                <a:latin typeface="Arial"/>
              </a:rPr>
              <a:t>Recent time above range and the size of the current excursion dominate. The record explains who is at risk, not when.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The twin fits the patient, not the population.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64592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Insulin sensitivity and basal glucose are fitted from the CGM signal.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60604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Held-out check: R2 0.82, median error 8.4%, Spearman 0.91.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56616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Those numbers validate the fitting procedure, not the physiology.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52628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The twin updates as new readings arrive, and keeps its own risk trace.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A walk after dinner cuts the peak by 12 mg/dL.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whati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5204" y="1508760"/>
            <a:ext cx="6656831" cy="41605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5806440"/>
            <a:ext cx="10835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B665E"/>
                </a:solidFill>
                <a:latin typeface="Arial"/>
              </a:rPr>
              <a:t>Same patient, same evening. Risk falls from 38% to 16%. Swapping rice for millets cuts the peak by 28 mg/dL. Skipping the snack does almost nothing.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Built for a clinic, not for a demo.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h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17369"/>
            <a:ext cx="5303520" cy="3314700"/>
          </a:xfrm>
          <a:prstGeom prst="rect">
            <a:avLst/>
          </a:prstGeom>
        </p:spPr>
      </p:pic>
      <p:pic>
        <p:nvPicPr>
          <p:cNvPr id="5" name="Picture 4" descr="tw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19" y="1817369"/>
            <a:ext cx="5303520" cy="33147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5669280"/>
            <a:ext cx="10835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>
                <a:solidFill>
                  <a:srgbClr val="6B665E"/>
                </a:solidFill>
                <a:latin typeface="Arial"/>
              </a:rPr>
              <a:t>Cohort sorted by two-hour risk. Twin workspace with forecast band, gauge, time in range, wearables and the alert timeline.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What we did not prove.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645920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191916"/>
                </a:solidFill>
                <a:latin typeface="Arial"/>
              </a:rPr>
              <a:t>This is synthetic data. No clinical accuracy is claimed.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50592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450592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191916"/>
                </a:solidFill>
                <a:latin typeface="Arial"/>
              </a:rPr>
              <a:t>External validation is written but not run.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55264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255264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191916"/>
                </a:solidFill>
                <a:latin typeface="Arial"/>
              </a:rPr>
              <a:t>About 2.7 alerts per patient-day at the deployed threshold.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59936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059936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191916"/>
                </a:solidFill>
                <a:latin typeface="Arial"/>
              </a:rPr>
              <a:t>Subgroup fairness is not measured.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6460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4864608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0">
                <a:solidFill>
                  <a:srgbClr val="191916"/>
                </a:solidFill>
                <a:latin typeface="Arial"/>
              </a:rPr>
              <a:t>It is not a medical device, and it is not approved.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65E"/>
                </a:solidFill>
                <a:latin typeface="Arial"/>
              </a:rPr>
              <a:t>DPDP Act and HIPAA by design. Human in the loop. No automatic treatment change.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8813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>
                <a:solidFill>
                  <a:srgbClr val="191916"/>
                </a:solidFill>
                <a:latin typeface="Arial"/>
              </a:rPr>
              <a:t>What comes next.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481328"/>
            <a:ext cx="10908792" cy="12700"/>
          </a:xfrm>
          <a:prstGeom prst="rect">
            <a:avLst/>
          </a:prstGeom>
          <a:solidFill>
            <a:srgbClr val="DCD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" y="164592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A prospective 8 to 12 week study in one clinic, threshold frozen in advance.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0604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60604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ABDM and ABHA records, Apple Health and Google Fit, CGM vendor APIs.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56616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Federated learning across clinics, so records never move.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0">
                <a:solidFill>
                  <a:srgbClr val="6B665E"/>
                </a:solidFill>
                <a:latin typeface="Arial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526280"/>
            <a:ext cx="10332720" cy="8869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0">
                <a:solidFill>
                  <a:srgbClr val="191916"/>
                </a:solidFill>
                <a:latin typeface="Arial"/>
              </a:rPr>
              <a:t>A fairer cohort: CKD, SGLT2 and GLP-1, and well-controlled patients.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371600"/>
            <a:ext cx="106070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191916"/>
                </a:solidFill>
                <a:latin typeface="Arial"/>
              </a:rPr>
              <a:t>Thank you.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834640"/>
            <a:ext cx="96926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>
                <a:solidFill>
                  <a:srgbClr val="191916"/>
                </a:solidFill>
                <a:latin typeface="Arial"/>
              </a:rPr>
              <a:t>GlucoTwin is a decision aid, not a doctor. The clinician decides.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852160"/>
            <a:ext cx="106070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6B665E"/>
                </a:solidFill>
                <a:latin typeface="Arial"/>
              </a:rPr>
              <a:t>six seven  ·  glucotwin.freebuff.app  ·  youtu.be/K4raAnGqGx0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84280" y="6446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6B665E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